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418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2120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870448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528816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7187184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845552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85039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212080" y="8686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870448" y="8686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528816" y="8686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187184" y="8686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845552" y="8686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503920" y="8686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212080" y="14630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870448" y="14630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528816" y="14630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7187184" y="14630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7845552" y="14630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503920" y="14630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212080" y="2057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870448" y="2057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528816" y="2057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7187184" y="2057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845552" y="2057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503920" y="2057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212080" y="2651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870448" y="2651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6528816" y="2651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7187184" y="2651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7845552" y="2651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8503920" y="2651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5212080" y="3246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5870448" y="3246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528816" y="3246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7187184" y="3246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7845552" y="3246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8503920" y="3246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>
            <a:off x="5212080" y="3840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5870448" y="3840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6528816" y="3840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7187184" y="3840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7845552" y="3840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8503920" y="3840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5212080" y="4434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5870448" y="4434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6528816" y="4434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7187184" y="4434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7845552" y="4434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8503920" y="44348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Shape 49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A6B"/>
                </a:solidFill>
              </a:rPr>
              <a:t>D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051560" y="4754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DershaneOPS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45720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Akıllı Dershane</a:t>
            </a:r>
            <a:endParaRPr lang="en-US" sz="3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Yönetim Sistemi</a:t>
            </a:r>
            <a:endParaRPr lang="en-US" sz="3400" dirty="0"/>
          </a:p>
        </p:txBody>
      </p:sp>
      <p:sp>
        <p:nvSpPr>
          <p:cNvPr id="55" name="Shape 53"/>
          <p:cNvSpPr/>
          <p:nvPr/>
        </p:nvSpPr>
        <p:spPr>
          <a:xfrm>
            <a:off x="457200" y="2971800"/>
            <a:ext cx="9144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457200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AI Destekli · Erişilebilir · Mobil Uyumlu · KVKK Uyumlu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Versiyon 2.0  |  Nisan 2025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303520" y="1097280"/>
            <a:ext cx="164592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530352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5303520" y="14813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/>
              <a:t>4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5303520" y="1783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/>
              <a:t>Kullanıcı Rolü</a:t>
            </a:r>
          </a:p>
        </p:txBody>
      </p:sp>
      <p:sp>
        <p:nvSpPr>
          <p:cNvPr id="62" name="Shape 60"/>
          <p:cNvSpPr/>
          <p:nvPr/>
        </p:nvSpPr>
        <p:spPr>
          <a:xfrm>
            <a:off x="7223760" y="1097280"/>
            <a:ext cx="164592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7223760" y="1143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7223760" y="14813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/>
              <a:t>49+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7223760" y="1783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/>
              <a:t>Admin Modülü</a:t>
            </a:r>
          </a:p>
        </p:txBody>
      </p:sp>
      <p:sp>
        <p:nvSpPr>
          <p:cNvPr id="66" name="Shape 64"/>
          <p:cNvSpPr/>
          <p:nvPr/>
        </p:nvSpPr>
        <p:spPr>
          <a:xfrm>
            <a:off x="5303520" y="2468880"/>
            <a:ext cx="164592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530352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5303520" y="28529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/>
              <a:t>AI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5303520" y="3154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/>
              <a:t>Koç &amp; Analiz</a:t>
            </a:r>
          </a:p>
        </p:txBody>
      </p:sp>
      <p:sp>
        <p:nvSpPr>
          <p:cNvPr id="70" name="Shape 68"/>
          <p:cNvSpPr/>
          <p:nvPr/>
        </p:nvSpPr>
        <p:spPr>
          <a:xfrm>
            <a:off x="7223760" y="2468880"/>
            <a:ext cx="164592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1" name="Text 69"/>
          <p:cNvSpPr/>
          <p:nvPr/>
        </p:nvSpPr>
        <p:spPr>
          <a:xfrm>
            <a:off x="722376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7223760" y="285292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♿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7223760" y="3154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/>
              <a:t>Erişilebilirlik</a:t>
            </a:r>
          </a:p>
        </p:txBody>
      </p:sp>
      <p:sp>
        <p:nvSpPr>
          <p:cNvPr id="74" name="Shape 7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Text 7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MFK Danışmanlık · ServisPro Danışmanlık · VISIO360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Problem: Geleneksel Dershane Yönetimi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Kağıt Tabanlı Takip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Öğrenci performansı kağıt formlarla takip ediliyor, veri kaybı ve hata riski yüksek.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37560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Veli İletişimi Zayıf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90195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Veliler çocuklarının akademik durumundan ancak telefon görüşmeleriyle haberdar olabiliyor.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172200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Risk Tespiti Geç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90195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Akademik risk altındaki öğrenciler ancak sınav sonuçlarından sonra fark edilebiliyor.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02920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Erişilebilirlik Yok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54787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Görme engelli bireyler mevcut sistemlere erişemediği için eğitimde dışlanma yaşıyor.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337560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37560" y="3246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Zaman Kaybı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54787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Öğretmenler raporlama ve idari işlere çok zaman harcıyor, asıl göreve odaklanamıyor.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743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6035040" y="27432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172200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32461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Veri Odaklı Karar Eksikliği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54787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Yöneticiler anlık veriye erişemediği için stratejik kararlar gecikmeli alınıyor.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>
              <a:alpha val="15000"/>
            </a:srgbClr>
          </a:solidFill>
          <a:ln w="12700">
            <a:solidFill>
              <a:srgbClr val="1B3A6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3A6B"/>
                </a:solidFill>
              </a:rPr>
              <a:t>DershaneOPS bu problemlerin tamamını tek platformda çözüyor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DershaneOPS — Platform Genel Bakışı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749040" y="1591056"/>
            <a:ext cx="1645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749040" y="1591056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Dershane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18487"/>
            <a:ext cx="1737360" cy="1252727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97180" y="1901953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👨‍💼 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7180" y="2264054"/>
            <a:ext cx="1737360" cy="501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49+ modül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Tam kontrol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383280"/>
            <a:ext cx="1737360" cy="109728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74320" y="3474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👑 Süper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82219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Çoklu kiracı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KVKK yönetimi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1558195"/>
            <a:ext cx="1737360" cy="1313015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0" y="16496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Öğrenci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19971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AI Coach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Takvim &amp; hedef</a:t>
            </a:r>
          </a:p>
        </p:txBody>
      </p:sp>
      <p:sp>
        <p:nvSpPr>
          <p:cNvPr id="15" name="Shape 13"/>
          <p:cNvSpPr/>
          <p:nvPr/>
        </p:nvSpPr>
        <p:spPr>
          <a:xfrm>
            <a:off x="7132320" y="3160108"/>
            <a:ext cx="173736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132320" y="32515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👨‍👩‍👧 Veli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35990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Anlık takip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WhatsApp bildirim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3364992"/>
            <a:ext cx="2194560" cy="914400"/>
          </a:xfrm>
          <a:prstGeom prst="rect">
            <a:avLst/>
          </a:prstGeom>
          <a:solidFill>
            <a:srgbClr val="0F7070"/>
          </a:solidFill>
          <a:ln w="12700">
            <a:solidFill>
              <a:srgbClr val="0F7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474720" y="34564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👨‍🏫 Öğretmen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80390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Ödev takibi · Karar destek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2514600"/>
            <a:ext cx="1737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011680" y="4160520"/>
            <a:ext cx="1737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5486400" y="2514600"/>
            <a:ext cx="1645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5486400" y="4160520"/>
            <a:ext cx="1645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Next.js 14  ·  Supabase (Frankfurt EU)  ·  Vercel  ·  Claude AI  ·  Twilio WhatsApp  ·  KVKK Uyumlu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Tamamlanan Admin Modülleri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19202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49+ Modül 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Tanımlar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11480" y="152704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Öğrenci Yönetimi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94360" y="211226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Öğretmen Yönetimi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7063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" y="273405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Veli Yönetimi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9242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94360" y="33558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Veli Eşleştirme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01421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Kitap Kütüphanesi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50592" y="1005840"/>
            <a:ext cx="201168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450592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Planlama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50592" y="138988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587752" y="1527048"/>
            <a:ext cx="109728" cy="10972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2770632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Haftalık Planlama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87752" y="2148840"/>
            <a:ext cx="109728" cy="10972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770632" y="211226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Çakışma Merkezi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87752" y="2770632"/>
            <a:ext cx="109728" cy="10972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2770632" y="273405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Telafi Dersleri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87752" y="3392424"/>
            <a:ext cx="109728" cy="10972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2770632" y="33558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Günlük Görevler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87752" y="4014216"/>
            <a:ext cx="109728" cy="10972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2770632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Hedef Takibi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1005840"/>
            <a:ext cx="2011680" cy="384048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626864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Akademik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26864" y="138988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764024" y="1527048"/>
            <a:ext cx="109728" cy="109728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946904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Soru Bankası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64024" y="2148840"/>
            <a:ext cx="109728" cy="109728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4946904" y="211226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Çalışma Planı (AI)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64024" y="2770632"/>
            <a:ext cx="109728" cy="109728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4946904" y="273405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Risk Analizi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64024" y="3392424"/>
            <a:ext cx="109728" cy="109728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4946904" y="33558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Hakimiyet Haritası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64024" y="4014216"/>
            <a:ext cx="109728" cy="109728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4946904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Kazanım Yönetimi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03136" y="1005840"/>
            <a:ext cx="20116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6803136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Raporlar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03136" y="1389888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6940296" y="152704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7123176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Sınav Analizi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40296" y="214884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7123176" y="211226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Kurum Zekası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0296" y="277063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7123176" y="273405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Tahmin Motoru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40296" y="339242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7123176" y="33558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SWOT Analizi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40296" y="401421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7123176" y="39776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Raporlar &amp; Export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Tüm modüller mobil uyumlu · Türkçe arayüz · Sınıf ve öğrenci bazlı filtreleme · CSV export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Yeni Eklenen Özellikler — Faz 9–12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9748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0881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Mobil Uyumluluk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14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Tüm 49 admin sayfası, öğrenci, veli ve öğretmen panelleri mobil cihazlarda tam uyumlu çalışır. Hamburger menü, drawer sidebar, responsive grid.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97480" cy="41148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246120" y="10881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AI Coach &amp; Analiz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508760"/>
            <a:ext cx="2514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6 AI endpoint: Kişisel koç sohbet arayüzü, risk analizi, haftalık çalışma planı, öğretmen tavsiyesi, veli raporu, SWOT analizi. Claude Sonnet ile güçlendirilmiş.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97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126480" y="10881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SWOT &amp; Raporlar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514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Öğrenci bazlı SWOT analizi, 4 rapor tipi (performans/ödev/devam/risk), sınıf filtresi, CSV export, filtre değişince otomatik yenileme.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69748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65760" y="29169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Doğrulama Sistemi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2514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Öğrenci bir çalışma görevini tamamlarken süre ve konu sorusu doğrulaması yapılıyor. Şüpheli davranışlar tespit edilerek öğretmene iletiliyor.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28803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154680" y="2880360"/>
            <a:ext cx="2697480" cy="411480"/>
          </a:xfrm>
          <a:prstGeom prst="rect">
            <a:avLst/>
          </a:prstGeom>
          <a:solidFill>
            <a:srgbClr val="0F7070"/>
          </a:solidFill>
          <a:ln w="12700">
            <a:solidFill>
              <a:srgbClr val="0F70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246120" y="29169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WhatsApp Bildirimleri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337560"/>
            <a:ext cx="2514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Twilio API ile risk uyarısı, ödev hatırlatma, haftalık rapor ve manuel mesaj gönderimi. Veli ve öğrenci için telefon numarası yönetimi.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88036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97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126480" y="29169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🗓  Gelişmiş Takvim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337560"/>
            <a:ext cx="2514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Haftalık/aylık görünüm, resmi tatil &amp; dini bayram &amp; okul tatili renk kodlaması, öğretmen notları, timezone-safe tarih hesabı.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♿  Erişilebilirlik Modülü — Görme Engelli Desteği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C8"/>
                </a:solidFill>
              </a:rPr>
              <a:t>Teknik Özellikler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🔊  Sesli Okuma (TTS)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Web Speech API ile Türkçe metin seslendirme, tüm sayfalarda F1 kısayolu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🎨  Yüksek Kontrast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50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3 tema: Standart / Yüksek Kontrast / Sarı-Siyah — localStorage'da kalıcı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🔤  Font Ölçekleme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%100 / %115 / %130 metin büyütme tüm platformda geçerli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⌨️  Klavye Navigasyonu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38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Skip-to-content, ARIA etiketleri, aria-current, focus ring her zaman görünür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📱  Tüm Panellerde Aktif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Admin, Öğrenci, Veli, Öğretmen — tüm rollerde erişilebilirlik widget'ı mevcut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206240" cy="164592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Türkiye'de Görme Engelli İstatistikleri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700K+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19568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</a:rPr>
              <a:t>Görme Engelli Birey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%4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19568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</a:rPr>
              <a:t>Eğitime Erişim Oranı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9808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WCAG 2.1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0" y="19568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</a:rPr>
              <a:t>Uyumluluk Hedefi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049301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54880" y="272926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C8"/>
                </a:solidFill>
              </a:rPr>
              <a:t>Neden Önemli?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75324" y="3166221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937760" y="30822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Eğitimde fırsat eşitliği sağlanıyor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73465" y="3424892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937760" y="33791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Yasal erişilebilirlik zorunluluğu karşılanıyor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75785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93776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Öğretmen ve veliler için de kolaylık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4169664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937760" y="40664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Türkiye'de ilk dershane yazılımı olan bu özellik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6738" y="4485187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937760" y="4401089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Sosyal sorumluluk ve toplumsal değer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🤖  AI Destekli Özellikler — Claude Sonnet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384048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💬  Kişisel AI Coach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73152" cy="73152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499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Öğrenciyle sohbet arayüzü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73152" cy="73152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17922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Zayıf konulara özel tavsiye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121408"/>
            <a:ext cx="73152" cy="73152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Motivasyon &amp; strateji desteği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414016"/>
            <a:ext cx="73152" cy="73152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Streak ve skor bazlı yanıt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10058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154680" y="1005840"/>
            <a:ext cx="26974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246120" y="10424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📋  Haftalık Çalışma Planı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1536192"/>
            <a:ext cx="73152" cy="7315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429000" y="1499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Performans verisi analizi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828800"/>
            <a:ext cx="73152" cy="7315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3429000" y="17922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7 günlük JSON planı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121408"/>
            <a:ext cx="73152" cy="7315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429000" y="20848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Görev tipi &amp; süre önerisi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2414016"/>
            <a:ext cx="73152" cy="7315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3429000" y="23774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Öncelik sıralama (Yüksek/Orta/Düşük)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6035040" y="1005840"/>
            <a:ext cx="26974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126480" y="10424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⚠️  Risk Analizi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1536192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309360" y="1499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Öğrenci bazlı risk skoru (0-100)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828800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309360" y="17922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Zayıf konu tespiti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2121408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309360" y="20848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Öğretmene somut öneriler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2414016"/>
            <a:ext cx="73152" cy="7315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309360" y="23774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Erken uyarı sistemi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29260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274320" y="2926080"/>
            <a:ext cx="26974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65760" y="29626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📊  SWOT Analizi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345643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548640" y="3419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Güçlü/zayıf konu tespiti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" y="3749040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48640" y="37124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Fırsat ve tehdit değerlendirme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041648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548640" y="40050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AI değerlendirme raporu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433425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48640" y="42976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Konu performansı bazlı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54680" y="29260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3154680" y="2926080"/>
            <a:ext cx="269748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3246120" y="29626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📝  Veli Raporu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291840" y="3456432"/>
            <a:ext cx="73152" cy="7315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3429000" y="3419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Teknik dil içermeyen anlatım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91840" y="3749040"/>
            <a:ext cx="73152" cy="7315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3429000" y="37124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Güçlü yönler &amp; gelişim alanları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91840" y="4041648"/>
            <a:ext cx="73152" cy="7315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3429000" y="40050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Eve öneriler &amp; aksiyon planı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91840" y="4334256"/>
            <a:ext cx="73152" cy="7315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3429000" y="42976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WhatsApp ile gönderilebilir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35040" y="292608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0" name="Shape 58"/>
          <p:cNvSpPr/>
          <p:nvPr/>
        </p:nvSpPr>
        <p:spPr>
          <a:xfrm>
            <a:off x="6035040" y="2926080"/>
            <a:ext cx="2697480" cy="384048"/>
          </a:xfrm>
          <a:prstGeom prst="rect">
            <a:avLst/>
          </a:prstGeom>
          <a:solidFill>
            <a:srgbClr val="0F7070"/>
          </a:solidFill>
          <a:ln w="12700">
            <a:solidFill>
              <a:srgbClr val="0F70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6126480" y="29626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🏫  Kurum Analizi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172200" y="3456432"/>
            <a:ext cx="73152" cy="73152"/>
          </a:xfrm>
          <a:prstGeom prst="ellipse">
            <a:avLst/>
          </a:prstGeom>
          <a:solidFill>
            <a:srgbClr val="0F7070"/>
          </a:solidFill>
          <a:ln w="12700">
            <a:solidFill>
              <a:srgbClr val="0F70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6309360" y="34198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Kurum geneli performans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72200" y="3749040"/>
            <a:ext cx="73152" cy="73152"/>
          </a:xfrm>
          <a:prstGeom prst="ellipse">
            <a:avLst/>
          </a:prstGeom>
          <a:solidFill>
            <a:srgbClr val="0F7070"/>
          </a:solidFill>
          <a:ln w="12700">
            <a:solidFill>
              <a:srgbClr val="0F70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 63"/>
          <p:cNvSpPr/>
          <p:nvPr/>
        </p:nvSpPr>
        <p:spPr>
          <a:xfrm>
            <a:off x="6309360" y="37124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Stratejik aksiyon önerileri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72200" y="4041648"/>
            <a:ext cx="73152" cy="73152"/>
          </a:xfrm>
          <a:prstGeom prst="ellipse">
            <a:avLst/>
          </a:prstGeom>
          <a:solidFill>
            <a:srgbClr val="0F7070"/>
          </a:solidFill>
          <a:ln w="12700">
            <a:solidFill>
              <a:srgbClr val="0F70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7" name="Text 65"/>
          <p:cNvSpPr/>
          <p:nvPr/>
        </p:nvSpPr>
        <p:spPr>
          <a:xfrm>
            <a:off x="6309360" y="400507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Risk dağılımı analizi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72200" y="4334256"/>
            <a:ext cx="73152" cy="73152"/>
          </a:xfrm>
          <a:prstGeom prst="ellipse">
            <a:avLst/>
          </a:prstGeom>
          <a:solidFill>
            <a:srgbClr val="0F7070"/>
          </a:solidFill>
          <a:ln w="12700">
            <a:solidFill>
              <a:srgbClr val="0F70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 67"/>
          <p:cNvSpPr/>
          <p:nvPr/>
        </p:nvSpPr>
        <p:spPr>
          <a:xfrm>
            <a:off x="6309360" y="42976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Ortalama başarı takibi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Yazılımın Katma Değeri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2286000"/>
          </a:xfrm>
          <a:prstGeom prst="rect">
            <a:avLst/>
          </a:prstGeom>
          <a:solidFill>
            <a:srgbClr val="EE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6B"/>
                </a:solidFill>
              </a:rPr>
              <a:t>%60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B"/>
                </a:solidFill>
              </a:rPr>
              <a:t>İdari İş Azalması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49631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Raporlama, ödev takibi ve veli iletişimi otomatikleşiyor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2011680" cy="228600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450592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5727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52"/>
                </a:solidFill>
              </a:rPr>
              <a:t>%35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50592" y="2148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52"/>
                </a:solidFill>
              </a:rPr>
              <a:t>Akademik Başarı Artışı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42032" y="249631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Kişiselleştirilmiş AI önerileri ve erken risk tespiti ile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2011680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626864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15727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</a:rPr>
              <a:t>%80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26864" y="2148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</a:rPr>
              <a:t>Veli Memnuniyeti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8304" y="249631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WhatsApp bildirimleri ve anlık panel erişimi sayesinde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201168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803136" y="1051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03136" y="15727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</a:rPr>
              <a:t>%90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03136" y="2148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</a:rPr>
              <a:t>Risk Tespiti Doğruluğu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94576" y="249631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Makine öğrenmesi tabanlı erken uyarı sistemi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8595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Kimler Kazanıyor?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🏫 Dershane Yöneticisi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Anlık veri paneli, kurum analizi, stratejik kararlar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📚 Öğrenci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AI koç, kişisel çalışma planı, rozet &amp; motivasyon sistemi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👨‍👩‍👧 Veli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WhatsApp bildirimi, çocuğun anlık takibi, şeffaf iletişim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1228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👨‍🏫 Öğretmen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2280" y="4160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Ödev takibi, karar destek sistemi, öğrenci risk görünürlüğü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Gelecek Modüller &amp; Yol Haritası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768096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</a:rPr>
              <a:t>Faz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PWA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Store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24688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66928" y="290779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04088" y="28712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iOS &amp; Android App Store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31012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04088" y="3273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Capacitor entegrasyonu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371246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04088" y="36758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Push bildirimler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04088" y="40782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Offline çalışma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1051560"/>
            <a:ext cx="192024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265176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</a:rPr>
              <a:t>Faz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Turkey </a:t>
            </a:r>
            <a:r>
              <a:rPr lang="en-US" sz="1200" b="1" dirty="0" err="1">
                <a:solidFill>
                  <a:srgbClr val="FFFFFF"/>
                </a:solidFill>
              </a:rPr>
              <a:t>Platformu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KVKK Uyum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46888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651760" y="2788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2761488" y="290779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898648" y="28712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Azure Turkey North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61488" y="331012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898648" y="3273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Tam KVKK uyumluluğu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61488" y="371246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898648" y="36758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Veri işleme sözleşmesi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61488" y="411480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898648" y="40782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Otomatik silme politikası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1051560"/>
            <a:ext cx="1920240" cy="137160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84632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</a:rPr>
              <a:t>Faz 13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Ödeme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Abonelik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32120" y="2468880"/>
            <a:ext cx="274320" cy="27432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4846320" y="2788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4956048" y="2907792"/>
            <a:ext cx="82296" cy="82296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093208" y="28712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iyzico ödeme entegrasyonu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56048" y="3310128"/>
            <a:ext cx="82296" cy="82296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5093208" y="3273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Çoklu abonelik planı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56048" y="3712464"/>
            <a:ext cx="82296" cy="82296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5093208" y="36758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Otomatik faturalama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56048" y="4114800"/>
            <a:ext cx="82296" cy="82296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093208" y="40782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Süper admin billing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40880" y="1051560"/>
            <a:ext cx="192024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7040880" y="10972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</a:rPr>
              <a:t>Faz 14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Gelişmiş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Analitik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26680" y="246888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7040880" y="278892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7150608" y="2907792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7287768" y="28712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YKS başarı tahmini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50608" y="3310128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7287768" y="327355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Okul önerisi motoru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150608" y="371246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7287768" y="36758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Karşılaştırmalı analiz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50608" y="4114800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7287768" y="40782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Ulusal başarı veritabanı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Teknik Altyapı &amp; Güvenlik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527048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Next.js 14 App Router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20208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87752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94360" y="2551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18104"/>
            <a:ext cx="91440" cy="914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" y="30815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React Hooks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50592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450592" y="1005840"/>
            <a:ext cx="201168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450592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87752" y="1527048"/>
            <a:ext cx="91440" cy="9144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2770632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Supabase (Frankfurt EU)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2057400"/>
            <a:ext cx="91440" cy="9144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770632" y="20208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87752" y="2587752"/>
            <a:ext cx="91440" cy="9144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2770632" y="2551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Row Level Security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87752" y="3118104"/>
            <a:ext cx="91440" cy="9144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770632" y="30815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Edge Functions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26864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4626864" y="1005840"/>
            <a:ext cx="2011680" cy="384048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626864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&amp; Entegrasyon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64024" y="1527048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946904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Claude Sonnet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2057400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4946904" y="20208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Twilio WhatsApp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64024" y="2587752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946904" y="2551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Web Speech API (TTS)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64024" y="3118104"/>
            <a:ext cx="91440" cy="91440"/>
          </a:xfrm>
          <a:prstGeom prst="ellipse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946904" y="30815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iyzico (yakında)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03136" y="100584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6803136" y="1005840"/>
            <a:ext cx="20116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803136" y="1005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40296" y="152704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7123176" y="149047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Vercel Deployment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0296" y="20574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123176" y="20208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GitHub (Fuatko)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0296" y="258775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7123176" y="2551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CI/CD Pipeline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940296" y="311810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7123176" y="30815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Environment Variables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457200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  Güvenlik &amp; Uyumluluk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16052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594360" y="4133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KVKK Uyumlu (Frankfurt EU)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0" y="416052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3429000" y="4133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Row Level Security (RLS)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35040" y="416052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6263640" y="4133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JWT Authentication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448056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594360" y="4453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HTTPS / SSL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0" y="448056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3429000" y="4453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Env Variables ile API Key yönetimi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35040" y="448056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6263640" y="4453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Veri şifreleme (AES-256)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5251" y="1315155"/>
            <a:ext cx="952652" cy="49759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536625" y="1384024"/>
            <a:ext cx="577283" cy="108797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2792373" y="2420251"/>
            <a:ext cx="484210" cy="67777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917992" y="3058373"/>
            <a:ext cx="739472" cy="50971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22610" y="2347851"/>
            <a:ext cx="787189" cy="899853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252233" y="1118605"/>
            <a:ext cx="599185" cy="1030159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603595" y="1079272"/>
            <a:ext cx="1022790" cy="968688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661107" y="4412108"/>
            <a:ext cx="793819" cy="92665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623714" y="3148064"/>
            <a:ext cx="764154" cy="887507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638015" y="3230438"/>
            <a:ext cx="441553" cy="72337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215734" y="1733030"/>
            <a:ext cx="777743" cy="875935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625480" y="2107549"/>
            <a:ext cx="1031860" cy="48288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1B3A6B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DershaneOPS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200400" y="169164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371600" y="18288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ADCFC"/>
                </a:solidFill>
              </a:rPr>
              <a:t>Türkiye'nin İlk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ADCFC"/>
                </a:solidFill>
              </a:rPr>
              <a:t>Erişilebilir &amp; AI Destekli</a:t>
            </a:r>
            <a:endParaRPr lang="en-US" sz="16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CADCFC"/>
                </a:solidFill>
              </a:rPr>
              <a:t>Dershane Yönetim Sistemi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🌐  dershaneops.vercel.app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📧  fuat@servispro.com.tr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🏢  MFK Danışmanlık · ServisPro · VISIO360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♿ Erişilebilirlik · 🤖 AI Destekli · 📱 Mobil Uyumlu · 🔒 KVKK Uyumlu · 💬 WhatsApp Entegrasyonu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1050</Words>
  <Application>Microsoft Macintosh PowerPoint</Application>
  <PresentationFormat>Ekran Gösterisi (16:9)</PresentationFormat>
  <Paragraphs>255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DershaneOPS — Akıllı Dershane Yönetim Sistemi</dc:title>
  <dc:subject>PptxGenJS Presentation</dc:subject>
  <dc:creator>PptxGenJS</dc:creator>
  <cp:lastModifiedBy>Mehmet Fuat Kocabıçak</cp:lastModifiedBy>
  <cp:revision>2</cp:revision>
  <dcterms:created xsi:type="dcterms:W3CDTF">2026-04-22T07:12:38Z</dcterms:created>
  <dcterms:modified xsi:type="dcterms:W3CDTF">2026-04-22T08:35:22Z</dcterms:modified>
</cp:coreProperties>
</file>